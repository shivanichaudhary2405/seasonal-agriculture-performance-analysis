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0" r:id="rId4"/>
    <p:sldMasterId id="214748368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09c815adb6_3_1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409c815adb6_3_1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409c815adb6_3_1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409c815adb6_3_1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409c815adb6_3_2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409c815adb6_3_2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409c815adb6_3_2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409c815adb6_3_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409c815adb6_3_2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409c815adb6_3_2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409c815adb6_3_2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409c815adb6_3_2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409c815adb6_3_2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409c815adb6_3_2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409c815adb6_3_2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409c815adb6_3_2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409c815adb6_3_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409c815adb6_3_2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409c815adb6_3_2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409c815adb6_3_2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409c815adb6_3_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409c815adb6_3_2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409c815adb6_3_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409c815adb6_3_2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409c815adb6_3_2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409c815adb6_3_2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409c815adb6_3_2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409c815adb6_3_2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409c815adb6_3_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409c815adb6_3_2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409c815adb6_3_2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409c815adb6_3_2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409c815adb6_3_2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409c815adb6_3_3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409c815adb6_3_3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409c815adb6_3_3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409c815adb6_3_3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734653" y="3106499"/>
            <a:ext cx="3165634" cy="64612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72" name="Google Shape;72;p14"/>
          <p:cNvSpPr/>
          <p:nvPr/>
        </p:nvSpPr>
        <p:spPr>
          <a:xfrm>
            <a:off x="555232" y="1037107"/>
            <a:ext cx="922174" cy="794978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2816273" y="895965"/>
            <a:ext cx="1249621" cy="107726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2853746" y="3924887"/>
            <a:ext cx="538696" cy="464393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1378379" y="825980"/>
            <a:ext cx="488710" cy="421302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" name="Google Shape;76;p14"/>
          <p:cNvSpPr/>
          <p:nvPr>
            <p:ph idx="2" type="pic"/>
          </p:nvPr>
        </p:nvSpPr>
        <p:spPr>
          <a:xfrm>
            <a:off x="1178636" y="1435533"/>
            <a:ext cx="2995218" cy="2713386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4"/>
          <p:cNvSpPr txBox="1"/>
          <p:nvPr>
            <p:ph type="title"/>
          </p:nvPr>
        </p:nvSpPr>
        <p:spPr>
          <a:xfrm>
            <a:off x="4734653" y="1537914"/>
            <a:ext cx="3749040" cy="131173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rebuchet MS"/>
              <a:buNone/>
              <a:defRPr sz="2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95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95300" y="1533525"/>
            <a:ext cx="3206353" cy="26705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Symbols"/>
              <a:buChar char="▪"/>
              <a:defRPr sz="1500"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Noto Sans Symbols"/>
              <a:buChar char="▪"/>
              <a:defRPr sz="1400"/>
            </a:lvl2pPr>
            <a:lvl3pPr indent="-292100" lvl="2" marL="1371600" algn="l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Noto Sans Symbols"/>
              <a:buChar char="▪"/>
              <a:defRPr sz="1200"/>
            </a:lvl3pPr>
            <a:lvl4pPr indent="-292100" lvl="3" marL="1828800" algn="l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Noto Sans Symbols"/>
              <a:buChar char="▪"/>
              <a:defRPr sz="1200"/>
            </a:lvl4pPr>
            <a:lvl5pPr indent="-292100" lvl="4" marL="2286000" algn="l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Noto Sans Symbols"/>
              <a:buChar char="▪"/>
              <a:defRPr sz="1200"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80" name="Google Shape;80;p15"/>
          <p:cNvSpPr/>
          <p:nvPr/>
        </p:nvSpPr>
        <p:spPr>
          <a:xfrm>
            <a:off x="7015843" y="4022990"/>
            <a:ext cx="3429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5019593" y="1274917"/>
            <a:ext cx="239812" cy="239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7015843" y="4423304"/>
            <a:ext cx="134983" cy="1349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3" name="Google Shape;83;p15"/>
          <p:cNvSpPr/>
          <p:nvPr>
            <p:ph idx="2" type="pic"/>
          </p:nvPr>
        </p:nvSpPr>
        <p:spPr>
          <a:xfrm>
            <a:off x="5317670" y="589636"/>
            <a:ext cx="3331029" cy="4044777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5"/>
          <p:cNvSpPr txBox="1"/>
          <p:nvPr>
            <p:ph type="title"/>
          </p:nvPr>
        </p:nvSpPr>
        <p:spPr>
          <a:xfrm>
            <a:off x="495300" y="603910"/>
            <a:ext cx="3206353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rebuchet MS"/>
              <a:buNone/>
              <a:defRPr b="1" sz="36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78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5522119" y="332447"/>
            <a:ext cx="271463" cy="271463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8255435" y="4204496"/>
            <a:ext cx="490670" cy="49067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8012843" y="4599329"/>
            <a:ext cx="188364" cy="18836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" name="Google Shape;89;p16"/>
          <p:cNvSpPr/>
          <p:nvPr>
            <p:ph idx="2" type="pic"/>
          </p:nvPr>
        </p:nvSpPr>
        <p:spPr>
          <a:xfrm>
            <a:off x="4300062" y="468179"/>
            <a:ext cx="4391815" cy="422367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495300" y="1533525"/>
            <a:ext cx="3206353" cy="26705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Symbols"/>
              <a:buChar char="▪"/>
              <a:defRPr sz="1500"/>
            </a:lvl1pPr>
            <a:lvl2pPr indent="-304800" lvl="1" marL="914400" algn="l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Symbols"/>
              <a:buChar char="▪"/>
              <a:defRPr sz="1500"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Noto Sans Symbols"/>
              <a:buChar char="▪"/>
              <a:defRPr sz="1400"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Noto Sans Symbols"/>
              <a:buChar char="▪"/>
              <a:defRPr sz="1400"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Noto Sans Symbols"/>
              <a:buChar char="▪"/>
              <a:defRPr sz="1400"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type="title"/>
          </p:nvPr>
        </p:nvSpPr>
        <p:spPr>
          <a:xfrm>
            <a:off x="495300" y="603910"/>
            <a:ext cx="3206353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rebuchet MS"/>
              <a:buNone/>
              <a:defRPr b="1" sz="36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>
            <p:ph idx="2" type="pic"/>
          </p:nvPr>
        </p:nvSpPr>
        <p:spPr>
          <a:xfrm>
            <a:off x="4015131" y="1916663"/>
            <a:ext cx="1113739" cy="96012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7"/>
          <p:cNvSpPr/>
          <p:nvPr>
            <p:ph idx="3" type="pic"/>
          </p:nvPr>
        </p:nvSpPr>
        <p:spPr>
          <a:xfrm>
            <a:off x="2336941" y="1916663"/>
            <a:ext cx="1113739" cy="96012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/>
          <p:nvPr>
            <p:ph idx="4" type="pic"/>
          </p:nvPr>
        </p:nvSpPr>
        <p:spPr>
          <a:xfrm>
            <a:off x="5701849" y="1916663"/>
            <a:ext cx="1113739" cy="96012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7"/>
          <p:cNvSpPr/>
          <p:nvPr>
            <p:ph idx="5" type="pic"/>
          </p:nvPr>
        </p:nvSpPr>
        <p:spPr>
          <a:xfrm>
            <a:off x="7380038" y="1916663"/>
            <a:ext cx="1113739" cy="96012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17"/>
          <p:cNvSpPr txBox="1"/>
          <p:nvPr>
            <p:ph type="title"/>
          </p:nvPr>
        </p:nvSpPr>
        <p:spPr>
          <a:xfrm>
            <a:off x="324000" y="485775"/>
            <a:ext cx="8505000" cy="525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7"/>
          <p:cNvSpPr/>
          <p:nvPr/>
        </p:nvSpPr>
        <p:spPr>
          <a:xfrm>
            <a:off x="410002" y="2600666"/>
            <a:ext cx="343701" cy="296294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8335003" y="1796042"/>
            <a:ext cx="268793" cy="231718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8161987" y="1651652"/>
            <a:ext cx="173016" cy="149152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410001" y="3129571"/>
            <a:ext cx="1604772" cy="2582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6" type="body"/>
          </p:nvPr>
        </p:nvSpPr>
        <p:spPr>
          <a:xfrm>
            <a:off x="417519" y="3441194"/>
            <a:ext cx="1604772" cy="2582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7" type="body"/>
          </p:nvPr>
        </p:nvSpPr>
        <p:spPr>
          <a:xfrm>
            <a:off x="2092112" y="3129571"/>
            <a:ext cx="1604772" cy="2582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8" type="body"/>
          </p:nvPr>
        </p:nvSpPr>
        <p:spPr>
          <a:xfrm>
            <a:off x="2092112" y="3441194"/>
            <a:ext cx="1604772" cy="2582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5" name="Google Shape;105;p17"/>
          <p:cNvSpPr txBox="1"/>
          <p:nvPr>
            <p:ph idx="9" type="body"/>
          </p:nvPr>
        </p:nvSpPr>
        <p:spPr>
          <a:xfrm>
            <a:off x="3774222" y="3129571"/>
            <a:ext cx="1604772" cy="2582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3" type="body"/>
          </p:nvPr>
        </p:nvSpPr>
        <p:spPr>
          <a:xfrm>
            <a:off x="3771901" y="3441194"/>
            <a:ext cx="1604772" cy="2582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4" type="body"/>
          </p:nvPr>
        </p:nvSpPr>
        <p:spPr>
          <a:xfrm>
            <a:off x="5456333" y="3129571"/>
            <a:ext cx="1604772" cy="2582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15" type="body"/>
          </p:nvPr>
        </p:nvSpPr>
        <p:spPr>
          <a:xfrm>
            <a:off x="5456333" y="3441194"/>
            <a:ext cx="1604772" cy="2582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16" type="body"/>
          </p:nvPr>
        </p:nvSpPr>
        <p:spPr>
          <a:xfrm>
            <a:off x="7138442" y="3129571"/>
            <a:ext cx="1604772" cy="2582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7" type="body"/>
          </p:nvPr>
        </p:nvSpPr>
        <p:spPr>
          <a:xfrm>
            <a:off x="7138442" y="3441194"/>
            <a:ext cx="1604772" cy="2582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11" name="Google Shape;111;p17"/>
          <p:cNvSpPr/>
          <p:nvPr>
            <p:ph idx="18" type="pic"/>
          </p:nvPr>
        </p:nvSpPr>
        <p:spPr>
          <a:xfrm>
            <a:off x="658753" y="1916663"/>
            <a:ext cx="1113739" cy="96012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8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sp>
          <p:nvSpPr>
            <p:cNvPr id="114" name="Google Shape;114;p18"/>
            <p:cNvSpPr/>
            <p:nvPr/>
          </p:nvSpPr>
          <p:spPr>
            <a:xfrm>
              <a:off x="0" y="-7862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196"/>
              </a:schemeClr>
            </a:solidFill>
            <a:ln>
              <a:noFill/>
            </a:ln>
          </p:spPr>
        </p:sp>
        <p:cxnSp>
          <p:nvCxnSpPr>
            <p:cNvPr id="115" name="Google Shape;115;p18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18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" name="Google Shape;117;p18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78"/>
              </a:schemeClr>
            </a:solidFill>
            <a:ln>
              <a:noFill/>
            </a:ln>
          </p:spPr>
        </p:sp>
        <p:sp>
          <p:nvSpPr>
            <p:cNvPr id="118" name="Google Shape;118;p18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19" name="Google Shape;119;p18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8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50196"/>
              </a:srgbClr>
            </a:solidFill>
            <a:ln>
              <a:noFill/>
            </a:ln>
          </p:spPr>
        </p:sp>
        <p:sp>
          <p:nvSpPr>
            <p:cNvPr id="121" name="Google Shape;121;p18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196"/>
              </a:schemeClr>
            </a:solidFill>
            <a:ln>
              <a:noFill/>
            </a:ln>
          </p:spPr>
        </p:sp>
        <p:sp>
          <p:nvSpPr>
            <p:cNvPr id="122" name="Google Shape;122;p18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123" name="Google Shape;123;p18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" name="Google Shape;124;p18"/>
          <p:cNvSpPr txBox="1"/>
          <p:nvPr>
            <p:ph type="ctrTitle"/>
          </p:nvPr>
        </p:nvSpPr>
        <p:spPr>
          <a:xfrm>
            <a:off x="1130300" y="1803400"/>
            <a:ext cx="5825202" cy="123472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Trebuchet MS"/>
              <a:buNone/>
              <a:defRPr sz="41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18"/>
          <p:cNvSpPr txBox="1"/>
          <p:nvPr>
            <p:ph idx="1" type="subTitle"/>
          </p:nvPr>
        </p:nvSpPr>
        <p:spPr>
          <a:xfrm>
            <a:off x="1130300" y="3038125"/>
            <a:ext cx="5825202" cy="8226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r">
              <a:spcBef>
                <a:spcPts val="800"/>
              </a:spcBef>
              <a:spcAft>
                <a:spcPts val="0"/>
              </a:spcAft>
              <a:buSzPts val="110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6" name="Google Shape;126;p18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18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18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508000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32" name="Google Shape;132;p19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19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19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508001" y="2025650"/>
            <a:ext cx="6447501" cy="136993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rebuchet MS"/>
              <a:buNone/>
              <a:defRPr b="0" sz="3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508001" y="3395586"/>
            <a:ext cx="6447501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0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508001" y="1620442"/>
            <a:ext cx="3138026" cy="29105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idx="2" type="body"/>
          </p:nvPr>
        </p:nvSpPr>
        <p:spPr>
          <a:xfrm>
            <a:off x="3817477" y="1620442"/>
            <a:ext cx="3138026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45" name="Google Shape;145;p21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506809" y="1620737"/>
            <a:ext cx="3139217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51" name="Google Shape;151;p22"/>
          <p:cNvSpPr txBox="1"/>
          <p:nvPr>
            <p:ph idx="2" type="body"/>
          </p:nvPr>
        </p:nvSpPr>
        <p:spPr>
          <a:xfrm>
            <a:off x="506809" y="2052934"/>
            <a:ext cx="3139217" cy="24780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52" name="Google Shape;152;p22"/>
          <p:cNvSpPr txBox="1"/>
          <p:nvPr>
            <p:ph idx="3" type="body"/>
          </p:nvPr>
        </p:nvSpPr>
        <p:spPr>
          <a:xfrm>
            <a:off x="3816287" y="1620737"/>
            <a:ext cx="3139213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53" name="Google Shape;153;p22"/>
          <p:cNvSpPr txBox="1"/>
          <p:nvPr>
            <p:ph idx="4" type="body"/>
          </p:nvPr>
        </p:nvSpPr>
        <p:spPr>
          <a:xfrm>
            <a:off x="3816288" y="2052934"/>
            <a:ext cx="3139213" cy="24780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54" name="Google Shape;154;p22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22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22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23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23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508001" y="1123953"/>
            <a:ext cx="2890896" cy="9588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Trebuchet MS"/>
              <a:buNone/>
              <a:defRPr sz="15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3570346" y="386193"/>
            <a:ext cx="3385156" cy="41448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69" name="Google Shape;169;p25"/>
          <p:cNvSpPr txBox="1"/>
          <p:nvPr>
            <p:ph idx="2" type="body"/>
          </p:nvPr>
        </p:nvSpPr>
        <p:spPr>
          <a:xfrm>
            <a:off x="508001" y="2082802"/>
            <a:ext cx="2890896" cy="193833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9pPr>
          </a:lstStyle>
          <a:p/>
        </p:txBody>
      </p:sp>
      <p:sp>
        <p:nvSpPr>
          <p:cNvPr id="170" name="Google Shape;170;p25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25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25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508000" y="3600450"/>
            <a:ext cx="64475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b="0"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26"/>
          <p:cNvSpPr/>
          <p:nvPr>
            <p:ph idx="2" type="pic"/>
          </p:nvPr>
        </p:nvSpPr>
        <p:spPr>
          <a:xfrm>
            <a:off x="508000" y="457200"/>
            <a:ext cx="6447501" cy="2884288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508000" y="4025503"/>
            <a:ext cx="6447500" cy="5055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177" name="Google Shape;177;p26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" name="Google Shape;179;p26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508001" y="457200"/>
            <a:ext cx="6447501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27"/>
          <p:cNvSpPr txBox="1"/>
          <p:nvPr>
            <p:ph idx="1" type="body"/>
          </p:nvPr>
        </p:nvSpPr>
        <p:spPr>
          <a:xfrm>
            <a:off x="508001" y="3352800"/>
            <a:ext cx="6447501" cy="1178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3" name="Google Shape;183;p27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27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27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698500" y="457200"/>
            <a:ext cx="6070601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1024604" y="2724150"/>
            <a:ext cx="54183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 sz="12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89" name="Google Shape;189;p28"/>
          <p:cNvSpPr txBox="1"/>
          <p:nvPr>
            <p:ph idx="2" type="body"/>
          </p:nvPr>
        </p:nvSpPr>
        <p:spPr>
          <a:xfrm>
            <a:off x="508001" y="3352800"/>
            <a:ext cx="6447501" cy="1178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0" name="Google Shape;190;p28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1" name="Google Shape;191;p28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28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8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00"/>
          </a:p>
        </p:txBody>
      </p:sp>
      <p:sp>
        <p:nvSpPr>
          <p:cNvPr id="194" name="Google Shape;194;p28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10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type="title"/>
          </p:nvPr>
        </p:nvSpPr>
        <p:spPr>
          <a:xfrm>
            <a:off x="508001" y="1448991"/>
            <a:ext cx="6447501" cy="194659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8" name="Google Shape;198;p29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29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0" name="Google Shape;200;p29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type="title"/>
          </p:nvPr>
        </p:nvSpPr>
        <p:spPr>
          <a:xfrm>
            <a:off x="698500" y="457200"/>
            <a:ext cx="6070601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3" name="Google Shape;203;p30"/>
          <p:cNvSpPr txBox="1"/>
          <p:nvPr>
            <p:ph idx="1" type="body"/>
          </p:nvPr>
        </p:nvSpPr>
        <p:spPr>
          <a:xfrm>
            <a:off x="507999" y="3009900"/>
            <a:ext cx="6447502" cy="38568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Font typeface="Trebuchet MS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04" name="Google Shape;204;p30"/>
          <p:cNvSpPr txBox="1"/>
          <p:nvPr>
            <p:ph idx="2" type="body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5" name="Google Shape;205;p30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6" name="Google Shape;206;p30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7" name="Google Shape;207;p30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30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00"/>
          </a:p>
        </p:txBody>
      </p:sp>
      <p:sp>
        <p:nvSpPr>
          <p:cNvPr id="209" name="Google Shape;209;p30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10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type="title"/>
          </p:nvPr>
        </p:nvSpPr>
        <p:spPr>
          <a:xfrm>
            <a:off x="514349" y="457200"/>
            <a:ext cx="6441152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2" name="Google Shape;212;p31"/>
          <p:cNvSpPr txBox="1"/>
          <p:nvPr>
            <p:ph idx="1" type="body"/>
          </p:nvPr>
        </p:nvSpPr>
        <p:spPr>
          <a:xfrm>
            <a:off x="507999" y="3009900"/>
            <a:ext cx="6447502" cy="38568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13" name="Google Shape;213;p31"/>
          <p:cNvSpPr txBox="1"/>
          <p:nvPr>
            <p:ph idx="2" type="body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4" name="Google Shape;214;p31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5" name="Google Shape;215;p31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6" name="Google Shape;216;p31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9" name="Google Shape;219;p32"/>
          <p:cNvSpPr txBox="1"/>
          <p:nvPr>
            <p:ph idx="1" type="body"/>
          </p:nvPr>
        </p:nvSpPr>
        <p:spPr>
          <a:xfrm rot="5400000">
            <a:off x="2276461" y="-148019"/>
            <a:ext cx="2910580" cy="6447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20" name="Google Shape;220;p32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1" name="Google Shape;221;p32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32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type="title"/>
          </p:nvPr>
        </p:nvSpPr>
        <p:spPr>
          <a:xfrm rot="5400000">
            <a:off x="4495739" y="1937215"/>
            <a:ext cx="3938588" cy="97855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5" name="Google Shape;225;p33"/>
          <p:cNvSpPr txBox="1"/>
          <p:nvPr>
            <p:ph idx="1" type="body"/>
          </p:nvPr>
        </p:nvSpPr>
        <p:spPr>
          <a:xfrm rot="5400000">
            <a:off x="1186264" y="-221062"/>
            <a:ext cx="3938588" cy="52951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26" name="Google Shape;226;p33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7" name="Google Shape;227;p33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8" name="Google Shape;228;p33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 showMasterSp="0">
  <p:cSld name="1_Custom Layout">
    <p:bg>
      <p:bgPr>
        <a:solidFill>
          <a:schemeClr val="dk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descr="Tall office building looking up" id="231" name="Google Shape;231;p34"/>
          <p:cNvSpPr/>
          <p:nvPr/>
        </p:nvSpPr>
        <p:spPr>
          <a:xfrm>
            <a:off x="2788920" y="885842"/>
            <a:ext cx="3566160" cy="3371816"/>
          </a:xfrm>
          <a:prstGeom prst="rect">
            <a:avLst/>
          </a:prstGeom>
          <a:solidFill>
            <a:schemeClr val="accent5">
              <a:alpha val="40000"/>
            </a:schemeClr>
          </a:solidFill>
          <a:ln cap="flat" cmpd="sng" w="60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2" name="Google Shape;232;p34"/>
          <p:cNvSpPr txBox="1"/>
          <p:nvPr>
            <p:ph idx="1" type="body"/>
          </p:nvPr>
        </p:nvSpPr>
        <p:spPr>
          <a:xfrm>
            <a:off x="3111854" y="3644602"/>
            <a:ext cx="2943701" cy="3679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r">
              <a:spcBef>
                <a:spcPts val="80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33" name="Google Shape;233;p34"/>
          <p:cNvSpPr txBox="1"/>
          <p:nvPr>
            <p:ph type="title"/>
          </p:nvPr>
        </p:nvSpPr>
        <p:spPr>
          <a:xfrm>
            <a:off x="3111854" y="1147264"/>
            <a:ext cx="2943701" cy="12717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theme" Target="../theme/theme3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52" name="Google Shape;52;p13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" name="Google Shape;53;p13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4" name="Google Shape;54;p13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78"/>
              </a:schemeClr>
            </a:solidFill>
            <a:ln>
              <a:noFill/>
            </a:ln>
          </p:spPr>
        </p:sp>
        <p:sp>
          <p:nvSpPr>
            <p:cNvPr id="55" name="Google Shape;55;p13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56" name="Google Shape;56;p1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50196"/>
              </a:srgbClr>
            </a:solidFill>
            <a:ln>
              <a:noFill/>
            </a:ln>
          </p:spPr>
        </p:sp>
        <p:sp>
          <p:nvSpPr>
            <p:cNvPr id="58" name="Google Shape;58;p13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196"/>
              </a:schemeClr>
            </a:solidFill>
            <a:ln>
              <a:noFill/>
            </a:ln>
          </p:spPr>
        </p:sp>
        <p:sp>
          <p:nvSpPr>
            <p:cNvPr id="59" name="Google Shape;59;p13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60" name="Google Shape;60;p13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70196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13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b="0" i="0" sz="2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508000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9210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79400" lvl="2" marL="13716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73050" lvl="3" marL="18288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73050" lvl="4" marL="22860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73050" lvl="5" marL="27432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73050" lvl="6" marL="32004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73050" lvl="7" marL="36576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73050" lvl="8" marL="41148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7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7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495297" y="478418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9/3/2026</a:t>
            </a:r>
            <a:endParaRPr b="0" i="0" sz="8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1084145" y="4784180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Annual Review</a:t>
            </a:r>
            <a:endParaRPr sz="1100"/>
          </a:p>
        </p:txBody>
      </p:sp>
      <p:sp>
        <p:nvSpPr>
          <p:cNvPr id="69" name="Google Shape;69;p13"/>
          <p:cNvSpPr txBox="1"/>
          <p:nvPr/>
        </p:nvSpPr>
        <p:spPr>
          <a:xfrm>
            <a:off x="6604004" y="478418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800" u="none" cap="none" strike="noStrik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hyperlink" Target="https://github.com/shivanichaudhary2405/Seasonal-Agriculture-Performance-Analysi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>
            <p:ph idx="1" type="body"/>
          </p:nvPr>
        </p:nvSpPr>
        <p:spPr>
          <a:xfrm>
            <a:off x="534924" y="2687936"/>
            <a:ext cx="3566160" cy="64612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 sz="1100">
                <a:solidFill>
                  <a:srgbClr val="1B1B1A"/>
                </a:solidFill>
              </a:rPr>
              <a:t>Shivani Chaudhary</a:t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800"/>
              <a:buNone/>
            </a:pPr>
            <a:r>
              <a:rPr b="0" lang="en" sz="1000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College Name - </a:t>
            </a:r>
            <a:r>
              <a:rPr b="0" lang="en" sz="1000">
                <a:solidFill>
                  <a:srgbClr val="454441"/>
                </a:solidFill>
              </a:rPr>
              <a:t>Birla Institute of Technology and Science, Pilani – K. K. Birla Goa Campus</a:t>
            </a:r>
            <a:endParaRPr/>
          </a:p>
        </p:txBody>
      </p:sp>
      <p:sp>
        <p:nvSpPr>
          <p:cNvPr id="239" name="Google Shape;239;p35"/>
          <p:cNvSpPr txBox="1"/>
          <p:nvPr>
            <p:ph type="title"/>
          </p:nvPr>
        </p:nvSpPr>
        <p:spPr>
          <a:xfrm>
            <a:off x="508773" y="1769364"/>
            <a:ext cx="3749040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B1A"/>
              </a:buClr>
              <a:buSzPts val="2300"/>
              <a:buFont typeface="Trebuchet MS"/>
              <a:buNone/>
            </a:pPr>
            <a:r>
              <a:rPr b="1" lang="en" sz="2300">
                <a:solidFill>
                  <a:srgbClr val="1B1B1A"/>
                </a:solidFill>
                <a:latin typeface="Trebuchet MS"/>
                <a:ea typeface="Trebuchet MS"/>
                <a:cs typeface="Trebuchet MS"/>
                <a:sym typeface="Trebuchet MS"/>
              </a:rPr>
              <a:t>Seasonal Agriculture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AF7A"/>
              </a:buClr>
              <a:buSzPts val="2300"/>
              <a:buFont typeface="Trebuchet MS"/>
              <a:buNone/>
            </a:pPr>
            <a:r>
              <a:rPr b="1" lang="en" sz="2300">
                <a:solidFill>
                  <a:srgbClr val="1BAF7A"/>
                </a:solidFill>
                <a:latin typeface="Trebuchet MS"/>
                <a:ea typeface="Trebuchet MS"/>
                <a:cs typeface="Trebuchet MS"/>
                <a:sym typeface="Trebuchet MS"/>
              </a:rPr>
              <a:t>Performance Analysis</a:t>
            </a:r>
            <a:endParaRPr/>
          </a:p>
        </p:txBody>
      </p:sp>
      <p:sp>
        <p:nvSpPr>
          <p:cNvPr id="240" name="Google Shape;240;p35"/>
          <p:cNvSpPr txBox="1"/>
          <p:nvPr/>
        </p:nvSpPr>
        <p:spPr>
          <a:xfrm>
            <a:off x="4800600" y="2095501"/>
            <a:ext cx="2484120" cy="64612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</a:pPr>
            <a:r>
              <a:rPr b="1" i="0" lang="en" sz="900" u="none" cap="none" strike="noStrike">
                <a:solidFill>
                  <a:srgbClr val="2A78D6"/>
                </a:solidFill>
                <a:latin typeface="Trebuchet MS"/>
                <a:ea typeface="Trebuchet MS"/>
                <a:cs typeface="Trebuchet MS"/>
                <a:sym typeface="Trebuchet MS"/>
              </a:rPr>
              <a:t>VOIS AICTE Batch 1  ·  2026–2027</a:t>
            </a:r>
            <a:endParaRPr b="1" i="0" sz="1800" u="none" cap="none" strike="noStrik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</a:pPr>
            <a:r>
              <a:rPr b="0" i="0" lang="en" sz="800" u="none" cap="none" strike="noStrike">
                <a:solidFill>
                  <a:srgbClr val="6F6E6A"/>
                </a:solidFill>
                <a:latin typeface="Trebuchet MS"/>
                <a:ea typeface="Trebuchet MS"/>
                <a:cs typeface="Trebuchet MS"/>
                <a:sym typeface="Trebuchet MS"/>
              </a:rPr>
              <a:t>Major Project  ·  Course: Data Visualization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</a:pPr>
            <a:r>
              <a:rPr b="0" i="0" lang="en" sz="800" u="none" cap="none" strike="noStrike">
                <a:solidFill>
                  <a:srgbClr val="6F6E6A"/>
                </a:solidFill>
                <a:latin typeface="Trebuchet MS"/>
                <a:ea typeface="Trebuchet MS"/>
                <a:cs typeface="Trebuchet MS"/>
                <a:sym typeface="Trebuchet MS"/>
              </a:rPr>
              <a:t>4,000 farms  ·  8 crops  ·  8 states  ·  3 seasons</a:t>
            </a:r>
            <a:endParaRPr sz="1100"/>
          </a:p>
        </p:txBody>
      </p:sp>
      <p:pic>
        <p:nvPicPr>
          <p:cNvPr id="241" name="Google Shape;241;p35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506968" y="4853940"/>
            <a:ext cx="1607344" cy="14478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5"/>
          <p:cNvSpPr txBox="1"/>
          <p:nvPr/>
        </p:nvSpPr>
        <p:spPr>
          <a:xfrm>
            <a:off x="534924" y="3374136"/>
            <a:ext cx="356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AICTE STU ID : </a:t>
            </a:r>
            <a:r>
              <a:rPr b="1" lang="en" sz="900">
                <a:solidFill>
                  <a:srgbClr val="020617"/>
                </a:solidFill>
                <a:highlight>
                  <a:srgbClr val="FFFFFF"/>
                </a:highlight>
              </a:rPr>
              <a:t>STU6a6a3b03e36e41785346819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>
            <p:ph idx="1" type="body"/>
          </p:nvPr>
        </p:nvSpPr>
        <p:spPr>
          <a:xfrm>
            <a:off x="777572" y="1576679"/>
            <a:ext cx="4823400" cy="27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7305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▪"/>
            </a:pPr>
            <a:r>
              <a:rPr b="0" lang="en" sz="1100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Agricultural activities are influenced by seasonal variations in environmental conditions, farming practices, resource availability and market conditions. As a result, agricultural performance may differ from one season to another.</a:t>
            </a:r>
            <a:endParaRPr sz="2100"/>
          </a:p>
          <a:p>
            <a:pPr indent="-273050" lvl="0" marL="254000" rtl="0" algn="l">
              <a:spcBef>
                <a:spcPts val="800"/>
              </a:spcBef>
              <a:spcAft>
                <a:spcPts val="0"/>
              </a:spcAft>
              <a:buSzPts val="900"/>
              <a:buChar char="▪"/>
            </a:pPr>
            <a:r>
              <a:rPr b="0" lang="en" sz="1100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However, raw agricultural data does not clearly explain how agricultural performance changes across seasons or what patterns can be observed in different seasonal conditions.</a:t>
            </a:r>
            <a:endParaRPr/>
          </a:p>
          <a:p>
            <a:pPr indent="-273050" lvl="0" marL="254000" rtl="0" algn="l">
              <a:spcBef>
                <a:spcPts val="800"/>
              </a:spcBef>
              <a:spcAft>
                <a:spcPts val="0"/>
              </a:spcAft>
              <a:buSzPts val="900"/>
              <a:buChar char="▪"/>
            </a:pPr>
            <a:r>
              <a:rPr b="1" lang="en" sz="1100">
                <a:solidFill>
                  <a:srgbClr val="1B1B1A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 is to analyse the given agricultural dataset and investigate seasonal differences in agricultural performance by identifying meaningful patterns, trends, relationships and variations within the available data.</a:t>
            </a:r>
            <a:endParaRPr/>
          </a:p>
        </p:txBody>
      </p:sp>
      <p:sp>
        <p:nvSpPr>
          <p:cNvPr id="248" name="Google Shape;248;p36"/>
          <p:cNvSpPr txBox="1"/>
          <p:nvPr>
            <p:ph type="title"/>
          </p:nvPr>
        </p:nvSpPr>
        <p:spPr>
          <a:xfrm>
            <a:off x="565951" y="412813"/>
            <a:ext cx="5246703" cy="5925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"/>
              <a:t>PROBLEM  STATEMENT</a:t>
            </a:r>
            <a:endParaRPr/>
          </a:p>
        </p:txBody>
      </p:sp>
      <p:pic>
        <p:nvPicPr>
          <p:cNvPr id="249" name="Google Shape;24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6763" y="2198125"/>
            <a:ext cx="2070569" cy="2448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6"/>
          <p:cNvPicPr preferRelativeResize="0"/>
          <p:nvPr/>
        </p:nvPicPr>
        <p:blipFill rotWithShape="1">
          <a:blip r:embed="rId4">
            <a:alphaModFix/>
          </a:blip>
          <a:srcRect b="0" l="0" r="0" t="96181"/>
          <a:stretch/>
        </p:blipFill>
        <p:spPr>
          <a:xfrm>
            <a:off x="506968" y="4853940"/>
            <a:ext cx="1607344" cy="144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/>
          <p:nvPr>
            <p:ph type="title"/>
          </p:nvPr>
        </p:nvSpPr>
        <p:spPr>
          <a:xfrm>
            <a:off x="495299" y="603910"/>
            <a:ext cx="4707082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B1A"/>
              </a:buClr>
              <a:buSzPct val="100000"/>
              <a:buFont typeface="Trebuchet MS"/>
              <a:buNone/>
            </a:pPr>
            <a:r>
              <a:rPr b="1" lang="en" sz="2300">
                <a:solidFill>
                  <a:srgbClr val="1B1B1A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Description</a:t>
            </a:r>
            <a:endParaRPr/>
          </a:p>
        </p:txBody>
      </p:sp>
      <p:pic>
        <p:nvPicPr>
          <p:cNvPr id="256" name="Google Shape;256;p37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506968" y="4853940"/>
            <a:ext cx="1607344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519" y="4807846"/>
            <a:ext cx="2779690" cy="22206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7"/>
          <p:cNvSpPr txBox="1"/>
          <p:nvPr/>
        </p:nvSpPr>
        <p:spPr>
          <a:xfrm>
            <a:off x="209664" y="1430101"/>
            <a:ext cx="8160900" cy="3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project analyses 4,000 Indian farm records across the three cropping seasons — Kharif (monsoon), Rabi (winter) and Zaid (summer) — spanning 8 crops, 8 states and 28 variables covering weather, soil, farming practice, output, water use and economics.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2A78D6"/>
                </a:solidFill>
                <a:latin typeface="Trebuchet MS"/>
                <a:ea typeface="Trebuchet MS"/>
                <a:cs typeface="Trebuchet MS"/>
                <a:sym typeface="Trebuchet MS"/>
              </a:rPr>
              <a:t>Approach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1.  Data-quality audit — verified four arithmetic identities in the data, which allowed 32 missing yields to be reconstructed exactly rather than estimated.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2.  Crop-relative yield — the key engineered feature. Sugarcane yields 48 t/ha and pulses 0.9 t/ha, so raw averages measure crop mix, not seasonal performance. Dividing each farm by its own crop median puts all 8 crops on one comparable scale.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3.  Hypothesis testing — Kruskal-Wallis, pairwise Mann-Whitney with Bonferroni correction, and chi-square, with effect sizes reported alongside every p-value.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4.  Robustness — the seasonal ranking is re-tested inside all 30 sub-groups (crop, state, district, irrigation method) to rule out a composition artefact.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5.  Modelling — nested OLS models separate what the season label explains from what measurable growing conditions explain.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2A78D6"/>
                </a:solidFill>
                <a:latin typeface="Trebuchet MS"/>
                <a:ea typeface="Trebuchet MS"/>
                <a:cs typeface="Trebuchet MS"/>
                <a:sym typeface="Trebuchet MS"/>
              </a:rPr>
              <a:t>Headline result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B1B1A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Productivity falls 30 % from Kharif to Zaid and the ranking holds in 30 of 30 sub-groups. The cause is a rainfall optimum near 760 mm, not the calendar. Because cost per hectare is statistically identical in every season while revenue falls, loss-making farms rise from 42 % in Kharif to 65 % in Zaid.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>
            <p:ph idx="1" type="body"/>
          </p:nvPr>
        </p:nvSpPr>
        <p:spPr>
          <a:xfrm>
            <a:off x="493776" y="1303020"/>
            <a:ext cx="8161020" cy="33604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▪"/>
            </a:pPr>
            <a:r>
              <a:rPr b="1" lang="en" sz="1100">
                <a:solidFill>
                  <a:srgbClr val="1BAF7A"/>
                </a:solidFill>
                <a:latin typeface="Trebuchet MS"/>
                <a:ea typeface="Trebuchet MS"/>
                <a:cs typeface="Trebuchet MS"/>
                <a:sym typeface="Trebuchet MS"/>
              </a:rPr>
              <a:t>Farmers and Farmer Producer Organisations (FPOs)</a:t>
            </a:r>
            <a:endParaRPr sz="2700"/>
          </a:p>
          <a:p>
            <a:pPr indent="-254000" lvl="0" marL="254000" rtl="0" algn="l">
              <a:spcBef>
                <a:spcPts val="200"/>
              </a:spcBef>
              <a:spcAft>
                <a:spcPts val="0"/>
              </a:spcAft>
              <a:buSzPts val="800"/>
              <a:buChar char="▪"/>
            </a:pPr>
            <a:r>
              <a:rPr b="0" lang="en" sz="900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Which crop to sow in which season, and when the expected return will not cover the input cost.</a:t>
            </a:r>
            <a:endParaRPr/>
          </a:p>
          <a:p>
            <a:pPr indent="-247650" lvl="0" marL="254000" rtl="0" algn="l">
              <a:spcBef>
                <a:spcPts val="800"/>
              </a:spcBef>
              <a:spcAft>
                <a:spcPts val="0"/>
              </a:spcAft>
              <a:buSzPts val="900"/>
              <a:buChar char="▪"/>
            </a:pPr>
            <a:r>
              <a:rPr b="1" lang="en" sz="1100">
                <a:solidFill>
                  <a:srgbClr val="2A78D6"/>
                </a:solidFill>
                <a:latin typeface="Trebuchet MS"/>
                <a:ea typeface="Trebuchet MS"/>
                <a:cs typeface="Trebuchet MS"/>
                <a:sym typeface="Trebuchet MS"/>
              </a:rPr>
              <a:t>Agricultural extension officers and Krishi Vigyan Kendras</a:t>
            </a:r>
            <a:endParaRPr/>
          </a:p>
          <a:p>
            <a:pPr indent="-254000" lvl="0" marL="254000" rtl="0" algn="l">
              <a:spcBef>
                <a:spcPts val="200"/>
              </a:spcBef>
              <a:spcAft>
                <a:spcPts val="0"/>
              </a:spcAft>
              <a:buSzPts val="800"/>
              <a:buChar char="▪"/>
            </a:pPr>
            <a:r>
              <a:rPr b="0" lang="en" sz="900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Season-specific advisories — irrigation targets, nutrient balance and Kharif disease control.</a:t>
            </a:r>
            <a:endParaRPr/>
          </a:p>
          <a:p>
            <a:pPr indent="-247650" lvl="0" marL="254000" rtl="0" algn="l">
              <a:spcBef>
                <a:spcPts val="800"/>
              </a:spcBef>
              <a:spcAft>
                <a:spcPts val="0"/>
              </a:spcAft>
              <a:buSzPts val="900"/>
              <a:buChar char="▪"/>
            </a:pPr>
            <a:r>
              <a:rPr b="1" lang="en" sz="1100">
                <a:solidFill>
                  <a:srgbClr val="EB6834"/>
                </a:solidFill>
                <a:latin typeface="Trebuchet MS"/>
                <a:ea typeface="Trebuchet MS"/>
                <a:cs typeface="Trebuchet MS"/>
                <a:sym typeface="Trebuchet MS"/>
              </a:rPr>
              <a:t>State agriculture departments and policy planners</a:t>
            </a:r>
            <a:endParaRPr/>
          </a:p>
          <a:p>
            <a:pPr indent="-254000" lvl="0" marL="254000" rtl="0" algn="l">
              <a:spcBef>
                <a:spcPts val="200"/>
              </a:spcBef>
              <a:spcAft>
                <a:spcPts val="0"/>
              </a:spcAft>
              <a:buSzPts val="800"/>
              <a:buChar char="▪"/>
            </a:pPr>
            <a:r>
              <a:rPr b="0" lang="en" sz="900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Where to direct irrigation subsidies, drainage investment and crop-diversification support.</a:t>
            </a:r>
            <a:endParaRPr/>
          </a:p>
          <a:p>
            <a:pPr indent="-247650" lvl="0" marL="254000" rtl="0" algn="l">
              <a:spcBef>
                <a:spcPts val="800"/>
              </a:spcBef>
              <a:spcAft>
                <a:spcPts val="0"/>
              </a:spcAft>
              <a:buSzPts val="900"/>
              <a:buChar char="▪"/>
            </a:pPr>
            <a:r>
              <a:rPr b="1" lang="en" sz="1100">
                <a:solidFill>
                  <a:srgbClr val="1BAF7A"/>
                </a:solidFill>
                <a:latin typeface="Trebuchet MS"/>
                <a:ea typeface="Trebuchet MS"/>
                <a:cs typeface="Trebuchet MS"/>
                <a:sym typeface="Trebuchet MS"/>
              </a:rPr>
              <a:t>Agri-input and irrigation companies</a:t>
            </a:r>
            <a:endParaRPr/>
          </a:p>
          <a:p>
            <a:pPr indent="-254000" lvl="0" marL="254000" rtl="0" algn="l">
              <a:spcBef>
                <a:spcPts val="200"/>
              </a:spcBef>
              <a:spcAft>
                <a:spcPts val="0"/>
              </a:spcAft>
              <a:buSzPts val="800"/>
              <a:buChar char="▪"/>
            </a:pPr>
            <a:r>
              <a:rPr b="0" lang="en" sz="900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Evidence that drip systems hold up best in the water-scarce Zaid season.</a:t>
            </a:r>
            <a:endParaRPr/>
          </a:p>
          <a:p>
            <a:pPr indent="-247650" lvl="0" marL="254000" rtl="0" algn="l">
              <a:spcBef>
                <a:spcPts val="800"/>
              </a:spcBef>
              <a:spcAft>
                <a:spcPts val="0"/>
              </a:spcAft>
              <a:buSzPts val="900"/>
              <a:buChar char="▪"/>
            </a:pPr>
            <a:r>
              <a:rPr b="1" lang="en" sz="1100">
                <a:solidFill>
                  <a:srgbClr val="2A78D6"/>
                </a:solidFill>
                <a:latin typeface="Trebuchet MS"/>
                <a:ea typeface="Trebuchet MS"/>
                <a:cs typeface="Trebuchet MS"/>
                <a:sym typeface="Trebuchet MS"/>
              </a:rPr>
              <a:t>Agricultural insurers and rural lenders</a:t>
            </a:r>
            <a:endParaRPr/>
          </a:p>
          <a:p>
            <a:pPr indent="-254000" lvl="0" marL="254000" rtl="0" algn="l">
              <a:spcBef>
                <a:spcPts val="200"/>
              </a:spcBef>
              <a:spcAft>
                <a:spcPts val="0"/>
              </a:spcAft>
              <a:buSzPts val="800"/>
              <a:buChar char="▪"/>
            </a:pPr>
            <a:r>
              <a:rPr b="0" lang="en" sz="900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Season- and crop-level loss rates (42 % → 65 %) for pricing risk and structuring credit.</a:t>
            </a:r>
            <a:endParaRPr/>
          </a:p>
          <a:p>
            <a:pPr indent="-247650" lvl="0" marL="254000" rtl="0" algn="l">
              <a:spcBef>
                <a:spcPts val="800"/>
              </a:spcBef>
              <a:spcAft>
                <a:spcPts val="0"/>
              </a:spcAft>
              <a:buSzPts val="900"/>
              <a:buChar char="▪"/>
            </a:pPr>
            <a:r>
              <a:rPr b="1" lang="en" sz="1100">
                <a:solidFill>
                  <a:srgbClr val="EB6834"/>
                </a:solidFill>
                <a:latin typeface="Trebuchet MS"/>
                <a:ea typeface="Trebuchet MS"/>
                <a:cs typeface="Trebuchet MS"/>
                <a:sym typeface="Trebuchet MS"/>
              </a:rPr>
              <a:t>Agri-tech platforms and researchers</a:t>
            </a:r>
            <a:endParaRPr/>
          </a:p>
          <a:p>
            <a:pPr indent="-254000" lvl="0" marL="254000" rtl="0" algn="l">
              <a:spcBef>
                <a:spcPts val="200"/>
              </a:spcBef>
              <a:spcAft>
                <a:spcPts val="0"/>
              </a:spcAft>
              <a:buSzPts val="800"/>
              <a:buChar char="▪"/>
            </a:pPr>
            <a:r>
              <a:rPr b="0" lang="en" sz="900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A reproducible baseline for seasonal benchmarking and yield-advisory products.</a:t>
            </a:r>
            <a:endParaRPr/>
          </a:p>
        </p:txBody>
      </p:sp>
      <p:sp>
        <p:nvSpPr>
          <p:cNvPr id="264" name="Google Shape;264;p38"/>
          <p:cNvSpPr txBox="1"/>
          <p:nvPr>
            <p:ph type="title"/>
          </p:nvPr>
        </p:nvSpPr>
        <p:spPr>
          <a:xfrm>
            <a:off x="465006" y="657463"/>
            <a:ext cx="7534553" cy="6019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B1A"/>
              </a:buClr>
              <a:buSzPts val="2300"/>
              <a:buFont typeface="Trebuchet MS"/>
              <a:buNone/>
            </a:pPr>
            <a:r>
              <a:rPr b="1" lang="en" sz="2300">
                <a:solidFill>
                  <a:srgbClr val="1B1B1A"/>
                </a:solidFill>
                <a:latin typeface="Trebuchet MS"/>
                <a:ea typeface="Trebuchet MS"/>
                <a:cs typeface="Trebuchet MS"/>
                <a:sym typeface="Trebuchet MS"/>
              </a:rPr>
              <a:t>WHO ARE THE END USERS?</a:t>
            </a:r>
            <a:endParaRPr sz="1500"/>
          </a:p>
        </p:txBody>
      </p:sp>
      <p:pic>
        <p:nvPicPr>
          <p:cNvPr id="265" name="Google Shape;26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19" y="4632603"/>
            <a:ext cx="1635919" cy="364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519" y="4807846"/>
            <a:ext cx="2779690" cy="22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38100" y="2865120"/>
            <a:ext cx="1295400" cy="225751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9"/>
          <p:cNvSpPr txBox="1"/>
          <p:nvPr>
            <p:ph type="title"/>
          </p:nvPr>
        </p:nvSpPr>
        <p:spPr>
          <a:xfrm>
            <a:off x="495299" y="322925"/>
            <a:ext cx="3979718" cy="6358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B1A"/>
              </a:buClr>
              <a:buSzPts val="2300"/>
              <a:buFont typeface="Trebuchet MS"/>
              <a:buNone/>
            </a:pPr>
            <a:r>
              <a:rPr b="1" lang="en" sz="2300">
                <a:solidFill>
                  <a:srgbClr val="1B1B1A"/>
                </a:solidFill>
                <a:latin typeface="Trebuchet MS"/>
                <a:ea typeface="Trebuchet MS"/>
                <a:cs typeface="Trebuchet MS"/>
                <a:sym typeface="Trebuchet MS"/>
              </a:rPr>
              <a:t>Technology Used</a:t>
            </a:r>
            <a:endParaRPr/>
          </a:p>
        </p:txBody>
      </p:sp>
      <p:sp>
        <p:nvSpPr>
          <p:cNvPr id="274" name="Google Shape;274;p39"/>
          <p:cNvSpPr txBox="1"/>
          <p:nvPr/>
        </p:nvSpPr>
        <p:spPr>
          <a:xfrm>
            <a:off x="1440180" y="1062990"/>
            <a:ext cx="3634740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2A78D6"/>
                </a:solidFill>
                <a:latin typeface="Trebuchet MS"/>
                <a:ea typeface="Trebuchet MS"/>
                <a:cs typeface="Trebuchet MS"/>
                <a:sym typeface="Trebuchet MS"/>
              </a:rPr>
              <a:t>Language &amp; environment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Python 3  ·  Jupyter Notebook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2A78D6"/>
                </a:solidFill>
                <a:latin typeface="Trebuchet MS"/>
                <a:ea typeface="Trebuchet MS"/>
                <a:cs typeface="Trebuchet MS"/>
                <a:sym typeface="Trebuchet MS"/>
              </a:rPr>
              <a:t>Data handling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pandas — cleaning, grouping, pivot tables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NumPy — vectorised computation, least-squares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2A78D6"/>
                </a:solidFill>
                <a:latin typeface="Trebuchet MS"/>
                <a:ea typeface="Trebuchet MS"/>
                <a:cs typeface="Trebuchet MS"/>
                <a:sym typeface="Trebuchet MS"/>
              </a:rPr>
              <a:t>Statistics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SciPy — Kruskal-Wallis, Mann-Whitney U,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ANOVA, chi-square, Spearman correlation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OLS regression implemented with NumPy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2A78D6"/>
                </a:solidFill>
                <a:latin typeface="Trebuchet MS"/>
                <a:ea typeface="Trebuchet MS"/>
                <a:cs typeface="Trebuchet MS"/>
                <a:sym typeface="Trebuchet MS"/>
              </a:rPr>
              <a:t>Visualisation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Matplotlib and Seaborn — a colour-vision-safe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palette validated to ΔE ≥ 9 separation</a:t>
            </a:r>
            <a:endParaRPr sz="1100"/>
          </a:p>
        </p:txBody>
      </p:sp>
      <p:sp>
        <p:nvSpPr>
          <p:cNvPr id="275" name="Google Shape;275;p39"/>
          <p:cNvSpPr txBox="1"/>
          <p:nvPr/>
        </p:nvSpPr>
        <p:spPr>
          <a:xfrm>
            <a:off x="5314950" y="1062990"/>
            <a:ext cx="3497580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BAF7A"/>
                </a:solidFill>
                <a:latin typeface="Trebuchet MS"/>
                <a:ea typeface="Trebuchet MS"/>
                <a:cs typeface="Trebuchet MS"/>
                <a:sym typeface="Trebuchet MS"/>
              </a:rPr>
              <a:t>Analytical techniques applied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•  Data-quality auditing via arithmetic identity checks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•  Group-wise median imputation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•  Normalisation to remove crop-scale confounding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•  Non-parametric hypothesis testing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•  Multiple-comparison (Bonferroni) correction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•  Effect sizes: η², Cramér's V, P(A &gt; B)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•  Sub-group robustness testing (30 groups)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•  Partial correlation to expose a confound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•  Polynomial response-curve fitting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•  Nested regression models for mediation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•  Break-even / unit-economics analysis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40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506968" y="4853940"/>
            <a:ext cx="1607344" cy="14478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0"/>
          <p:cNvSpPr txBox="1"/>
          <p:nvPr>
            <p:ph type="title"/>
          </p:nvPr>
        </p:nvSpPr>
        <p:spPr>
          <a:xfrm>
            <a:off x="506968" y="277942"/>
            <a:ext cx="2880360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B1A"/>
              </a:buClr>
              <a:buSzPts val="2300"/>
              <a:buFont typeface="Trebuchet MS"/>
              <a:buNone/>
            </a:pPr>
            <a:r>
              <a:rPr b="1" lang="en" sz="2300">
                <a:solidFill>
                  <a:srgbClr val="1B1B1A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/>
          </a:p>
        </p:txBody>
      </p:sp>
      <p:sp>
        <p:nvSpPr>
          <p:cNvPr id="282" name="Google Shape;282;p40"/>
          <p:cNvSpPr txBox="1"/>
          <p:nvPr/>
        </p:nvSpPr>
        <p:spPr>
          <a:xfrm>
            <a:off x="3120390" y="301752"/>
            <a:ext cx="5692140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2A78D6"/>
                </a:solidFill>
                <a:latin typeface="Trebuchet MS"/>
                <a:ea typeface="Trebuchet MS"/>
                <a:cs typeface="Trebuchet MS"/>
                <a:sym typeface="Trebuchet MS"/>
              </a:rPr>
              <a:t>Seasonal performance at a glance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Six measures, three seasons — nature varies enormously, farmer spending does not</a:t>
            </a:r>
            <a:endParaRPr sz="1100"/>
          </a:p>
        </p:txBody>
      </p:sp>
      <p:pic>
        <p:nvPicPr>
          <p:cNvPr descr="fig09_dashboard.png" id="283" name="Google Shape;28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7514" y="973836"/>
            <a:ext cx="5573543" cy="339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0"/>
          <p:cNvSpPr txBox="1"/>
          <p:nvPr/>
        </p:nvSpPr>
        <p:spPr>
          <a:xfrm>
            <a:off x="425196" y="4409694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Rainfall differs 3× between seasons and yield falls 30 %, yet cost per hectare varies by under 1 %. That mismatch is where the losses come from.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41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506968" y="4853940"/>
            <a:ext cx="1607344" cy="14478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1"/>
          <p:cNvSpPr txBox="1"/>
          <p:nvPr>
            <p:ph type="title"/>
          </p:nvPr>
        </p:nvSpPr>
        <p:spPr>
          <a:xfrm>
            <a:off x="506968" y="277942"/>
            <a:ext cx="2880360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B1A"/>
              </a:buClr>
              <a:buSzPts val="2300"/>
              <a:buFont typeface="Trebuchet MS"/>
              <a:buNone/>
            </a:pPr>
            <a:r>
              <a:rPr b="1" lang="en" sz="2300">
                <a:solidFill>
                  <a:srgbClr val="1B1B1A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/>
          </a:p>
        </p:txBody>
      </p:sp>
      <p:sp>
        <p:nvSpPr>
          <p:cNvPr id="291" name="Google Shape;291;p41"/>
          <p:cNvSpPr txBox="1"/>
          <p:nvPr/>
        </p:nvSpPr>
        <p:spPr>
          <a:xfrm>
            <a:off x="3120390" y="233172"/>
            <a:ext cx="57607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2A78D6"/>
                </a:solidFill>
                <a:latin typeface="Trebuchet MS"/>
                <a:ea typeface="Trebuchet MS"/>
                <a:cs typeface="Trebuchet MS"/>
                <a:sym typeface="Trebuchet MS"/>
              </a:rPr>
              <a:t>Data quality, cleaning and the key feature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Four arithmetic identities verified — so 32 missing yields were reconstructed, not guessed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F6E6A"/>
                </a:solidFill>
                <a:latin typeface="Trebuchet MS"/>
                <a:ea typeface="Trebuchet MS"/>
                <a:cs typeface="Trebuchet MS"/>
                <a:sym typeface="Trebuchet MS"/>
              </a:rPr>
              <a:t>Crop-relative yield collapses a 51× range between sugarcane and pulses onto a common 1.0 scale, so seasons compare fairly.</a:t>
            </a:r>
            <a:endParaRPr sz="1100"/>
          </a:p>
        </p:txBody>
      </p:sp>
      <p:pic>
        <p:nvPicPr>
          <p:cNvPr descr="code01_cleaning.png" id="292" name="Google Shape;29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8923" y="1001268"/>
            <a:ext cx="6130726" cy="3785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2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506968" y="4853940"/>
            <a:ext cx="1607344" cy="14478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/>
          <p:nvPr>
            <p:ph type="title"/>
          </p:nvPr>
        </p:nvSpPr>
        <p:spPr>
          <a:xfrm>
            <a:off x="506968" y="277942"/>
            <a:ext cx="2880360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B1A"/>
              </a:buClr>
              <a:buSzPts val="2300"/>
              <a:buFont typeface="Trebuchet MS"/>
              <a:buNone/>
            </a:pPr>
            <a:r>
              <a:rPr b="1" lang="en" sz="2300">
                <a:solidFill>
                  <a:srgbClr val="1B1B1A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/>
          </a:p>
        </p:txBody>
      </p:sp>
      <p:sp>
        <p:nvSpPr>
          <p:cNvPr id="299" name="Google Shape;299;p42"/>
          <p:cNvSpPr txBox="1"/>
          <p:nvPr/>
        </p:nvSpPr>
        <p:spPr>
          <a:xfrm>
            <a:off x="3120390" y="301752"/>
            <a:ext cx="5692140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2A78D6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Productivity across seasons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Kharif 1.13  ▸  Rabi 0.97  ▸  Zaid 0.79 — a 30 % gap from monsoon to summer</a:t>
            </a:r>
            <a:endParaRPr sz="1100"/>
          </a:p>
        </p:txBody>
      </p:sp>
      <p:pic>
        <p:nvPicPr>
          <p:cNvPr descr="fig02_yield_by_season.png" id="300" name="Google Shape;30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35" y="973836"/>
            <a:ext cx="7986502" cy="339471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2"/>
          <p:cNvSpPr txBox="1"/>
          <p:nvPr/>
        </p:nvSpPr>
        <p:spPr>
          <a:xfrm>
            <a:off x="425196" y="4409694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Kruskal-Wallis H = 254, p &lt; 1e-55. All three pairwise gaps survive Bonferroni correction; a Kharif farm out-yields a Zaid farm 70 % of the time.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43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506968" y="4853940"/>
            <a:ext cx="1607344" cy="14478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3"/>
          <p:cNvSpPr txBox="1"/>
          <p:nvPr>
            <p:ph type="title"/>
          </p:nvPr>
        </p:nvSpPr>
        <p:spPr>
          <a:xfrm>
            <a:off x="506968" y="277942"/>
            <a:ext cx="2880360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B1A"/>
              </a:buClr>
              <a:buSzPts val="2300"/>
              <a:buFont typeface="Trebuchet MS"/>
              <a:buNone/>
            </a:pPr>
            <a:r>
              <a:rPr b="1" lang="en" sz="2300">
                <a:solidFill>
                  <a:srgbClr val="1B1B1A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/>
          </a:p>
        </p:txBody>
      </p:sp>
      <p:sp>
        <p:nvSpPr>
          <p:cNvPr id="308" name="Google Shape;308;p43"/>
          <p:cNvSpPr txBox="1"/>
          <p:nvPr/>
        </p:nvSpPr>
        <p:spPr>
          <a:xfrm>
            <a:off x="3120390" y="301752"/>
            <a:ext cx="5692140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2A78D6"/>
                </a:solidFill>
                <a:latin typeface="Trebuchet MS"/>
                <a:ea typeface="Trebuchet MS"/>
                <a:cs typeface="Trebuchet MS"/>
                <a:sym typeface="Trebuchet MS"/>
              </a:rPr>
              <a:t>Is the ranking real, or a crop-mix artefact?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Kharif &gt; Rabi &gt; Zaid holds in 8/8 crops, 8/8 states, 10/10 districts, 4/4 irrigation methods</a:t>
            </a:r>
            <a:endParaRPr sz="1100"/>
          </a:p>
        </p:txBody>
      </p:sp>
      <p:pic>
        <p:nvPicPr>
          <p:cNvPr descr="fig03_robustness_by_crop.png" id="309" name="Google Shape;30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0785" y="973836"/>
            <a:ext cx="6927002" cy="339471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3"/>
          <p:cNvSpPr txBox="1"/>
          <p:nvPr/>
        </p:nvSpPr>
        <p:spPr>
          <a:xfrm>
            <a:off x="425196" y="4409694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30 out of 30 independent sub-groups agree. The penalty size varies (pulses −37 %, wheat −22 %) but its direction never reverses — this is not Simpson's paradox.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44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506968" y="4853940"/>
            <a:ext cx="1607344" cy="14478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4"/>
          <p:cNvSpPr txBox="1"/>
          <p:nvPr>
            <p:ph type="title"/>
          </p:nvPr>
        </p:nvSpPr>
        <p:spPr>
          <a:xfrm>
            <a:off x="506968" y="277942"/>
            <a:ext cx="2880360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B1A"/>
              </a:buClr>
              <a:buSzPts val="2300"/>
              <a:buFont typeface="Trebuchet MS"/>
              <a:buNone/>
            </a:pPr>
            <a:r>
              <a:rPr b="1" lang="en" sz="2300">
                <a:solidFill>
                  <a:srgbClr val="1B1B1A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/>
          </a:p>
        </p:txBody>
      </p:sp>
      <p:sp>
        <p:nvSpPr>
          <p:cNvPr id="317" name="Google Shape;317;p44"/>
          <p:cNvSpPr txBox="1"/>
          <p:nvPr/>
        </p:nvSpPr>
        <p:spPr>
          <a:xfrm>
            <a:off x="3120390" y="301752"/>
            <a:ext cx="5692140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2A78D6"/>
                </a:solidFill>
                <a:latin typeface="Trebuchet MS"/>
                <a:ea typeface="Trebuchet MS"/>
                <a:cs typeface="Trebuchet MS"/>
                <a:sym typeface="Trebuchet MS"/>
              </a:rPr>
              <a:t>Why the gap exists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Water availability — not the calendar — is what actually moves yield</a:t>
            </a:r>
            <a:endParaRPr sz="1100"/>
          </a:p>
        </p:txBody>
      </p:sp>
      <p:pic>
        <p:nvPicPr>
          <p:cNvPr descr="fig04_rainfall_response.png" id="318" name="Google Shape;31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884" y="973836"/>
            <a:ext cx="7778803" cy="339471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4"/>
          <p:cNvSpPr txBox="1"/>
          <p:nvPr/>
        </p:nvSpPr>
        <p:spPr>
          <a:xfrm>
            <a:off x="425196" y="4409694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Yield peaks near 760 mm. 62 % of Kharif farms sit above the optimum, so extra rain costs them yield; no Zaid farm ever reaches it. Water supply — not the calendar — is the mechanism.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5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506968" y="4853940"/>
            <a:ext cx="1607344" cy="14478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5"/>
          <p:cNvSpPr txBox="1"/>
          <p:nvPr>
            <p:ph type="title"/>
          </p:nvPr>
        </p:nvSpPr>
        <p:spPr>
          <a:xfrm>
            <a:off x="506968" y="277942"/>
            <a:ext cx="2880360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B1A"/>
              </a:buClr>
              <a:buSzPts val="2300"/>
              <a:buFont typeface="Trebuchet MS"/>
              <a:buNone/>
            </a:pPr>
            <a:r>
              <a:rPr b="1" lang="en" sz="2300">
                <a:solidFill>
                  <a:srgbClr val="1B1B1A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/>
          </a:p>
        </p:txBody>
      </p:sp>
      <p:sp>
        <p:nvSpPr>
          <p:cNvPr id="326" name="Google Shape;326;p45"/>
          <p:cNvSpPr txBox="1"/>
          <p:nvPr/>
        </p:nvSpPr>
        <p:spPr>
          <a:xfrm>
            <a:off x="3120390" y="301752"/>
            <a:ext cx="5692140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2A78D6"/>
                </a:solidFill>
                <a:latin typeface="Trebuchet MS"/>
                <a:ea typeface="Trebuchet MS"/>
                <a:cs typeface="Trebuchet MS"/>
                <a:sym typeface="Trebuchet MS"/>
              </a:rPr>
              <a:t>Resource usage and water efficiency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Identical inputs applied in every season, but 30 % less output per cubic metre</a:t>
            </a:r>
            <a:endParaRPr sz="1100"/>
          </a:p>
        </p:txBody>
      </p:sp>
      <p:pic>
        <p:nvPicPr>
          <p:cNvPr descr="fig05_water_efficiency.png" id="327" name="Google Shape;327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408" y="973836"/>
            <a:ext cx="8109755" cy="339471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5"/>
          <p:cNvSpPr txBox="1"/>
          <p:nvPr/>
        </p:nvSpPr>
        <p:spPr>
          <a:xfrm>
            <a:off x="425196" y="4409694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Fertiliser, N-P-K, pesticide, seed quality and water applied are statistically indistinguishable across seasons. Input behaviour is season-blind; output is not.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46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506968" y="4853940"/>
            <a:ext cx="1607344" cy="14478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6"/>
          <p:cNvSpPr txBox="1"/>
          <p:nvPr>
            <p:ph type="title"/>
          </p:nvPr>
        </p:nvSpPr>
        <p:spPr>
          <a:xfrm>
            <a:off x="506968" y="277942"/>
            <a:ext cx="2880360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B1A"/>
              </a:buClr>
              <a:buSzPts val="2300"/>
              <a:buFont typeface="Trebuchet MS"/>
              <a:buNone/>
            </a:pPr>
            <a:r>
              <a:rPr b="1" lang="en" sz="2300">
                <a:solidFill>
                  <a:srgbClr val="1B1B1A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/>
          </a:p>
        </p:txBody>
      </p:sp>
      <p:sp>
        <p:nvSpPr>
          <p:cNvPr id="335" name="Google Shape;335;p46"/>
          <p:cNvSpPr txBox="1"/>
          <p:nvPr/>
        </p:nvSpPr>
        <p:spPr>
          <a:xfrm>
            <a:off x="3120390" y="301752"/>
            <a:ext cx="5692140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2A78D6"/>
                </a:solidFill>
                <a:latin typeface="Trebuchet MS"/>
                <a:ea typeface="Trebuchet MS"/>
                <a:cs typeface="Trebuchet MS"/>
                <a:sym typeface="Trebuchet MS"/>
              </a:rPr>
              <a:t>Economic outcomes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Farmers spend the same in every season; only what they earn back changes</a:t>
            </a:r>
            <a:endParaRPr sz="1100"/>
          </a:p>
        </p:txBody>
      </p:sp>
      <p:pic>
        <p:nvPicPr>
          <p:cNvPr descr="fig06_economics.png" id="336" name="Google Shape;33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508" y="973836"/>
            <a:ext cx="7771556" cy="339471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6"/>
          <p:cNvSpPr txBox="1"/>
          <p:nvPr/>
        </p:nvSpPr>
        <p:spPr>
          <a:xfrm>
            <a:off x="425196" y="4409694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Cost/ha (₹66.3k–₹66.7k, p = 0.07) and market price (p = 0.94) are flat. Loss-making farms rise from 42 % in Kharif to 65 % in Zaid (χ² = 92.7, p &lt; 1e-20).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47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506968" y="4853940"/>
            <a:ext cx="1607344" cy="14478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47"/>
          <p:cNvSpPr txBox="1"/>
          <p:nvPr>
            <p:ph type="title"/>
          </p:nvPr>
        </p:nvSpPr>
        <p:spPr>
          <a:xfrm>
            <a:off x="506968" y="277942"/>
            <a:ext cx="2880360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B1A"/>
              </a:buClr>
              <a:buSzPts val="2300"/>
              <a:buFont typeface="Trebuchet MS"/>
              <a:buNone/>
            </a:pPr>
            <a:r>
              <a:rPr b="1" lang="en" sz="2300">
                <a:solidFill>
                  <a:srgbClr val="1B1B1A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/>
          </a:p>
        </p:txBody>
      </p:sp>
      <p:sp>
        <p:nvSpPr>
          <p:cNvPr id="344" name="Google Shape;344;p47"/>
          <p:cNvSpPr txBox="1"/>
          <p:nvPr/>
        </p:nvSpPr>
        <p:spPr>
          <a:xfrm>
            <a:off x="3120390" y="301752"/>
            <a:ext cx="5692140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2A78D6"/>
                </a:solidFill>
                <a:latin typeface="Trebuchet MS"/>
                <a:ea typeface="Trebuchet MS"/>
                <a:cs typeface="Trebuchet MS"/>
                <a:sym typeface="Trebuchet MS"/>
              </a:rPr>
              <a:t>Break-even by crop and season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Wheat, rice and maize sit below break-even in all three seasons</a:t>
            </a:r>
            <a:endParaRPr sz="1100"/>
          </a:p>
        </p:txBody>
      </p:sp>
      <p:pic>
        <p:nvPicPr>
          <p:cNvPr descr="fig07_breakeven_heatmap.png" id="345" name="Google Shape;345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3814" y="973836"/>
            <a:ext cx="5680943" cy="339471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7"/>
          <p:cNvSpPr txBox="1"/>
          <p:nvPr/>
        </p:nvSpPr>
        <p:spPr>
          <a:xfrm>
            <a:off x="425196" y="4409694"/>
            <a:ext cx="82981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Sugarcane and chilli clear break-even by 2.3–2.4× in every season. Wheat, rice and maize sit below break-even in all three — only 8 % of Zaid wheat farms make money.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8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506968" y="4853940"/>
            <a:ext cx="1607344" cy="14478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8"/>
          <p:cNvSpPr txBox="1"/>
          <p:nvPr>
            <p:ph type="title"/>
          </p:nvPr>
        </p:nvSpPr>
        <p:spPr>
          <a:xfrm>
            <a:off x="506968" y="277942"/>
            <a:ext cx="2880360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B1A"/>
              </a:buClr>
              <a:buSzPts val="2300"/>
              <a:buFont typeface="Trebuchet MS"/>
              <a:buNone/>
            </a:pPr>
            <a:r>
              <a:rPr b="1" lang="en" sz="2300">
                <a:solidFill>
                  <a:srgbClr val="1B1B1A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/>
          </a:p>
        </p:txBody>
      </p:sp>
      <p:sp>
        <p:nvSpPr>
          <p:cNvPr id="353" name="Google Shape;353;p48"/>
          <p:cNvSpPr txBox="1"/>
          <p:nvPr/>
        </p:nvSpPr>
        <p:spPr>
          <a:xfrm>
            <a:off x="3120390" y="233172"/>
            <a:ext cx="57607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2A78D6"/>
                </a:solidFill>
                <a:latin typeface="Trebuchet MS"/>
                <a:ea typeface="Trebuchet MS"/>
                <a:cs typeface="Trebuchet MS"/>
                <a:sym typeface="Trebuchet MS"/>
              </a:rPr>
              <a:t>Modelling the drivers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Growing conditions explain twice what the season label does — season is a proxy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F6E6A"/>
                </a:solidFill>
                <a:latin typeface="Trebuchet MS"/>
                <a:ea typeface="Trebuchet MS"/>
                <a:cs typeface="Trebuchet MS"/>
                <a:sym typeface="Trebuchet MS"/>
              </a:rPr>
              <a:t>41 % of the Zaid penalty is mediated by measurable conditions — overwhelmingly rainfall — and conditions can be managed where a season cannot.</a:t>
            </a:r>
            <a:endParaRPr sz="1100"/>
          </a:p>
        </p:txBody>
      </p:sp>
      <p:pic>
        <p:nvPicPr>
          <p:cNvPr descr="code02_testing.png" id="354" name="Google Shape;35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7390" y="1001268"/>
            <a:ext cx="6553790" cy="3785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49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506968" y="4853940"/>
            <a:ext cx="1607344" cy="14478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9"/>
          <p:cNvSpPr txBox="1"/>
          <p:nvPr>
            <p:ph type="title"/>
          </p:nvPr>
        </p:nvSpPr>
        <p:spPr>
          <a:xfrm>
            <a:off x="506968" y="277942"/>
            <a:ext cx="3551849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B1A"/>
              </a:buClr>
              <a:buSzPts val="2300"/>
              <a:buFont typeface="Trebuchet MS"/>
              <a:buNone/>
            </a:pPr>
            <a:r>
              <a:rPr b="1" lang="en" sz="2300">
                <a:solidFill>
                  <a:srgbClr val="1B1B1A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Scope</a:t>
            </a:r>
            <a:endParaRPr/>
          </a:p>
        </p:txBody>
      </p:sp>
      <p:sp>
        <p:nvSpPr>
          <p:cNvPr id="361" name="Google Shape;361;p49"/>
          <p:cNvSpPr txBox="1"/>
          <p:nvPr/>
        </p:nvSpPr>
        <p:spPr>
          <a:xfrm>
            <a:off x="493776" y="994410"/>
            <a:ext cx="4046220" cy="3703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2A78D6"/>
                </a:solidFill>
                <a:latin typeface="Trebuchet MS"/>
                <a:ea typeface="Trebuchet MS"/>
                <a:cs typeface="Trebuchet MS"/>
                <a:sym typeface="Trebuchet MS"/>
              </a:rPr>
              <a:t>Extending the analysis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Add a time dimension.  This dataset has no year or date, so no trend or forecast is possible. Multi-year data would turn seasonal differences into seasonal trends.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Predictive modelling.  Random Forest / gradient boosting on yield and profit, with SHAP values to confirm the rainfall optimum non-parametrically.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Real geography.  Join to genuine district coordinates and IMD rainfall grids to map where the 760 mm optimum is actually met.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Farm clustering.  Segment farms by input strategy to find which combinations survive Zaid.</a:t>
            </a:r>
            <a:endParaRPr sz="1100"/>
          </a:p>
        </p:txBody>
      </p:sp>
      <p:sp>
        <p:nvSpPr>
          <p:cNvPr id="362" name="Google Shape;362;p49"/>
          <p:cNvSpPr txBox="1"/>
          <p:nvPr/>
        </p:nvSpPr>
        <p:spPr>
          <a:xfrm>
            <a:off x="4766310" y="994410"/>
            <a:ext cx="3909060" cy="3703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BAF7A"/>
                </a:solidFill>
                <a:latin typeface="Trebuchet MS"/>
                <a:ea typeface="Trebuchet MS"/>
                <a:cs typeface="Trebuchet MS"/>
                <a:sym typeface="Trebuchet MS"/>
              </a:rPr>
              <a:t>Turning it into a product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Season-aware advisory tool.  Enter crop, district and irrigation method; return the expected break-even yield and a season-specific input budget.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Irrigation-gap dashboard.  Flag farms below the 760 mm water target and quantify the yield recoverable by closing that gap.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Loss early-warning.  A classifier for loss-making crop-season combinations, usable by lenders and insurers for risk pricing.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Live data integration.  Connect IMD weather feeds and mandi price APIs to move from retrospective analysis to in-season decision support.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50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506968" y="4853940"/>
            <a:ext cx="1607344" cy="14478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50"/>
          <p:cNvSpPr txBox="1"/>
          <p:nvPr>
            <p:ph type="title"/>
          </p:nvPr>
        </p:nvSpPr>
        <p:spPr>
          <a:xfrm>
            <a:off x="506968" y="277942"/>
            <a:ext cx="3551849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B1A"/>
              </a:buClr>
              <a:buSzPts val="2300"/>
              <a:buFont typeface="Trebuchet MS"/>
              <a:buNone/>
            </a:pPr>
            <a:r>
              <a:rPr b="1" lang="en" sz="2300">
                <a:solidFill>
                  <a:srgbClr val="1B1B1A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Link</a:t>
            </a:r>
            <a:endParaRPr/>
          </a:p>
        </p:txBody>
      </p:sp>
      <p:sp>
        <p:nvSpPr>
          <p:cNvPr id="369" name="Google Shape;369;p50"/>
          <p:cNvSpPr txBox="1"/>
          <p:nvPr/>
        </p:nvSpPr>
        <p:spPr>
          <a:xfrm>
            <a:off x="265092" y="1873425"/>
            <a:ext cx="8160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A78D6"/>
                </a:solidFill>
                <a:latin typeface="Trebuchet MS"/>
                <a:ea typeface="Trebuchet MS"/>
                <a:cs typeface="Trebuchet MS"/>
                <a:sym typeface="Trebuchet MS"/>
              </a:rPr>
              <a:t>https://github.com/shivanichaudhary2405/Seasonal-Agriculture-Performance-Analysis</a:t>
            </a:r>
            <a:endParaRPr sz="1100"/>
          </a:p>
        </p:txBody>
      </p:sp>
      <p:sp>
        <p:nvSpPr>
          <p:cNvPr id="370" name="Google Shape;370;p50">
            <a:hlinkClick r:id="rId4"/>
          </p:cNvPr>
          <p:cNvSpPr txBox="1"/>
          <p:nvPr/>
        </p:nvSpPr>
        <p:spPr>
          <a:xfrm>
            <a:off x="548640" y="1783080"/>
            <a:ext cx="8160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51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506968" y="4853940"/>
            <a:ext cx="1607344" cy="14478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51"/>
          <p:cNvSpPr txBox="1"/>
          <p:nvPr>
            <p:ph type="title"/>
          </p:nvPr>
        </p:nvSpPr>
        <p:spPr>
          <a:xfrm>
            <a:off x="506968" y="277942"/>
            <a:ext cx="6263541" cy="6634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B1A"/>
              </a:buClr>
              <a:buSzPct val="100000"/>
              <a:buFont typeface="Trebuchet MS"/>
              <a:buNone/>
            </a:pPr>
            <a:r>
              <a:rPr b="1" lang="en" sz="2000">
                <a:solidFill>
                  <a:srgbClr val="1B1B1A"/>
                </a:solidFill>
                <a:latin typeface="Trebuchet MS"/>
                <a:ea typeface="Trebuchet MS"/>
                <a:cs typeface="Trebuchet MS"/>
                <a:sym typeface="Trebuchet MS"/>
              </a:rPr>
              <a:t>VOIS Course Completion Certificate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rgbClr val="454441"/>
              </a:buClr>
              <a:buSzPct val="100000"/>
              <a:buFont typeface="Trebuchet MS"/>
              <a:buNone/>
            </a:pPr>
            <a:r>
              <a:rPr b="0" lang="en" sz="1300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Course name - Data Visualization</a:t>
            </a:r>
            <a:endParaRPr/>
          </a:p>
        </p:txBody>
      </p:sp>
      <p:pic>
        <p:nvPicPr>
          <p:cNvPr id="377" name="Google Shape;377;p51" title="Screenshot 2026-09-09 at 5.08.5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987" y="853060"/>
            <a:ext cx="5504553" cy="3897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2"/>
          <p:cNvSpPr txBox="1"/>
          <p:nvPr>
            <p:ph type="title"/>
          </p:nvPr>
        </p:nvSpPr>
        <p:spPr>
          <a:xfrm>
            <a:off x="324000" y="485775"/>
            <a:ext cx="8505000" cy="525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B1A"/>
              </a:buClr>
              <a:buSzPct val="100000"/>
              <a:buFont typeface="Trebuchet MS"/>
              <a:buNone/>
            </a:pPr>
            <a:r>
              <a:rPr b="1" lang="en" sz="3000">
                <a:solidFill>
                  <a:srgbClr val="1B1B1A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/>
          </a:p>
        </p:txBody>
      </p:sp>
      <p:pic>
        <p:nvPicPr>
          <p:cNvPr id="383" name="Google Shape;383;p52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506968" y="4853940"/>
            <a:ext cx="1607344" cy="14478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2"/>
          <p:cNvSpPr txBox="1"/>
          <p:nvPr/>
        </p:nvSpPr>
        <p:spPr>
          <a:xfrm>
            <a:off x="548640" y="1851660"/>
            <a:ext cx="80583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B1B1A"/>
                </a:solidFill>
                <a:latin typeface="Trebuchet MS"/>
                <a:ea typeface="Trebuchet MS"/>
                <a:cs typeface="Trebuchet MS"/>
                <a:sym typeface="Trebuchet MS"/>
              </a:rPr>
              <a:t>Nature varies enormously between seasons; farmer spending does not.</a:t>
            </a:r>
            <a:endParaRPr sz="1100"/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54441"/>
                </a:solidFill>
                <a:latin typeface="Trebuchet MS"/>
                <a:ea typeface="Trebuchet MS"/>
                <a:cs typeface="Trebuchet MS"/>
                <a:sym typeface="Trebuchet MS"/>
              </a:rPr>
              <a:t>That mismatch — not the weather alone — is what turns 42 % of Kharif farms into 65 % of Zaid farms making a loss.</a:t>
            </a:r>
            <a:endParaRPr sz="1100"/>
          </a:p>
          <a:p>
            <a:pPr indent="0" lvl="0" marL="0" marR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F6E6A"/>
                </a:solidFill>
                <a:latin typeface="Trebuchet MS"/>
                <a:ea typeface="Trebuchet MS"/>
                <a:cs typeface="Trebuchet MS"/>
                <a:sym typeface="Trebuchet MS"/>
              </a:rPr>
              <a:t>Shivani Chaudhary</a:t>
            </a:r>
            <a:r>
              <a:rPr b="0" i="0" lang="en" sz="1000" u="none" cap="none" strike="noStrike">
                <a:solidFill>
                  <a:srgbClr val="6F6E6A"/>
                </a:solidFill>
                <a:latin typeface="Trebuchet MS"/>
                <a:ea typeface="Trebuchet MS"/>
                <a:cs typeface="Trebuchet MS"/>
                <a:sym typeface="Trebuchet MS"/>
              </a:rPr>
              <a:t>   ·   </a:t>
            </a:r>
            <a:r>
              <a:rPr lang="en" sz="1000">
                <a:solidFill>
                  <a:srgbClr val="6F6E6A"/>
                </a:solidFill>
                <a:latin typeface="Trebuchet MS"/>
                <a:ea typeface="Trebuchet MS"/>
                <a:cs typeface="Trebuchet MS"/>
                <a:sym typeface="Trebuchet MS"/>
              </a:rPr>
              <a:t>BITS Goa</a:t>
            </a:r>
            <a:r>
              <a:rPr b="0" i="0" lang="en" sz="1000" u="none" cap="none" strike="noStrike">
                <a:solidFill>
                  <a:srgbClr val="6F6E6A"/>
                </a:solidFill>
                <a:latin typeface="Trebuchet MS"/>
                <a:ea typeface="Trebuchet MS"/>
                <a:cs typeface="Trebuchet MS"/>
                <a:sym typeface="Trebuchet MS"/>
              </a:rPr>
              <a:t>   ·   AICTE STU ID: </a:t>
            </a:r>
            <a:r>
              <a:rPr lang="en" sz="900">
                <a:solidFill>
                  <a:srgbClr val="6F6E6A"/>
                </a:solidFill>
                <a:highlight>
                  <a:srgbClr val="FFFFFF"/>
                </a:highlight>
              </a:rPr>
              <a:t>STU6a6a3b03e36e41785346819</a:t>
            </a:r>
            <a:endParaRPr sz="1100">
              <a:solidFill>
                <a:srgbClr val="6F6E6A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